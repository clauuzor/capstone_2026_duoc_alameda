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1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18288" y="18288"/>
            <a:ext cx="12152376" cy="54864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502920"/>
            <a:ext cx="3383280" cy="745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353312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COTIZA+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Aptos"/>
              </a:rPr>
              <a:t>Sistema de automatización y análisis
de cotizaciones comerciales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054096"/>
            <a:ext cx="1508760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264408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D5E0EC"/>
                </a:solidFill>
                <a:latin typeface="Aptos"/>
              </a:rPr>
              <a:t>Definición Proyecto APT · CAPSTONE · 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59936"/>
            <a:ext cx="502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ptos"/>
              </a:rPr>
              <a:t>Ignacio Gonzalez  ·  Claudio Cornejo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0740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CDD9E5"/>
                </a:solidFill>
                <a:latin typeface="Aptos"/>
              </a:rPr>
              <a:t>Ingeniería en Informática · Duoc 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2803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B4C3D2"/>
                </a:solidFill>
                <a:latin typeface="Aptos"/>
              </a:rPr>
              <a:t>31 de agosto de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28800"/>
            <a:ext cx="14630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3" y="2532888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B04E48"/>
                </a:solidFill>
                <a:latin typeface="Aptos"/>
              </a:rPr>
              <a:t>PDF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2834640"/>
            <a:ext cx="594360" cy="0"/>
          </a:xfrm>
          <a:prstGeom prst="line">
            <a:avLst/>
          </a:prstGeom>
          <a:ln w="2794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40112" y="1627632"/>
            <a:ext cx="160020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87000" y="2660903"/>
            <a:ext cx="164592" cy="411480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79608" y="2359152"/>
            <a:ext cx="164592" cy="713232"/>
          </a:xfrm>
          <a:prstGeom prst="rect">
            <a:avLst/>
          </a:prstGeom>
          <a:solidFill>
            <a:srgbClr val="2B7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72216" y="2139696"/>
            <a:ext cx="164592" cy="932688"/>
          </a:xfrm>
          <a:prstGeom prst="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60152" y="32918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0B3156"/>
                </a:solidFill>
                <a:latin typeface="Aptos"/>
              </a:rPr>
              <a:t>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1. Problema y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La información existe, pero permanece atrapada en documentos PDF.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1417320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SITUACIÓN ACTUAL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81328"/>
            <a:ext cx="54864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481328"/>
            <a:ext cx="64008" cy="4251960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18488"/>
            <a:ext cx="523036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Problema identificado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93392"/>
            <a:ext cx="48920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5AE26"/>
                </a:solidFill>
                <a:latin typeface="Aptos"/>
              </a:rPr>
              <a:t>• </a:t>
            </a:r>
            <a:r>
              <a:rPr sz="1500">
                <a:solidFill>
                  <a:srgbClr val="172737"/>
                </a:solidFill>
                <a:latin typeface="Aptos"/>
              </a:rPr>
              <a:t>Las cotizaciones comerciales se almacenan individualmente como archivos PDF en Google Drive.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5AE26"/>
                </a:solidFill>
                <a:latin typeface="Aptos"/>
              </a:rPr>
              <a:t>• </a:t>
            </a:r>
            <a:r>
              <a:rPr sz="1500">
                <a:solidFill>
                  <a:srgbClr val="172737"/>
                </a:solidFill>
                <a:latin typeface="Aptos"/>
              </a:rPr>
              <a:t>Datos como cliente, número, fecha, montos e ítems deben revisarse documento por documento.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5AE26"/>
                </a:solidFill>
                <a:latin typeface="Aptos"/>
              </a:rPr>
              <a:t>• </a:t>
            </a:r>
            <a:r>
              <a:rPr sz="1500">
                <a:solidFill>
                  <a:srgbClr val="172737"/>
                </a:solidFill>
                <a:latin typeface="Aptos"/>
              </a:rPr>
              <a:t>La información queda dispersa y es difícil obtener búsquedas, comparaciones o métricas consolidadas.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F5AE26"/>
                </a:solidFill>
                <a:latin typeface="Aptos"/>
              </a:rPr>
              <a:t>• </a:t>
            </a:r>
            <a:r>
              <a:rPr sz="1500">
                <a:solidFill>
                  <a:srgbClr val="172737"/>
                </a:solidFill>
                <a:latin typeface="Aptos"/>
              </a:rPr>
              <a:t>La revisión manual aumenta el tiempo operativo y eleva el riesgo de errores o duplicación de trabajo.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097280"/>
            <a:ext cx="1234440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115568"/>
            <a:ext cx="12344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OPORTUNIDAD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81328"/>
            <a:ext cx="5349240" cy="4251960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1901952"/>
            <a:ext cx="44805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Aptos"/>
              </a:rPr>
              <a:t>Convertir documentos
“inertes” en datos
consultables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3310128"/>
            <a:ext cx="437083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AE4EE"/>
                </a:solidFill>
                <a:latin typeface="Aptos"/>
              </a:rPr>
              <a:t>Automatizar la captura de información permite transformar las cotizaciones en una fuente estructurada, centralizada y disponible para análisis.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9984" y="4736592"/>
            <a:ext cx="4325112" cy="713232"/>
          </a:xfrm>
          <a:prstGeom prst="roundRect">
            <a:avLst/>
          </a:prstGeom>
          <a:solidFill>
            <a:srgbClr val="194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49103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F5AE26"/>
                </a:solidFill>
                <a:latin typeface="Aptos"/>
              </a:rPr>
              <a:t>Menos revisión manual  →  más información para decidir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2. Relevancia y aporte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El proyecto aborda una necesidad real mediante automatización, datos y software.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298448"/>
            <a:ext cx="3520440" cy="4251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298448"/>
            <a:ext cx="64008" cy="4251960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1435607"/>
            <a:ext cx="3264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Impacto operacional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1819655"/>
            <a:ext cx="3264408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6818D"/>
                </a:solidFill>
                <a:latin typeface="Aptos"/>
              </a:rPr>
              <a:t>Reduce tareas manuales asociadas a revisar, transcribir y buscar información dentro de cotizaciones individuales.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298448"/>
            <a:ext cx="3520440" cy="4251960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1298448"/>
            <a:ext cx="64008" cy="4251960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435607"/>
            <a:ext cx="3264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Impacto informacional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819655"/>
            <a:ext cx="3264408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6818D"/>
                </a:solidFill>
                <a:latin typeface="Aptos"/>
              </a:rPr>
              <a:t>Convierte documentos no estructurados en datos organizados, consultables y reutilizables para métricas.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298448"/>
            <a:ext cx="3520440" cy="4251960"/>
          </a:xfrm>
          <a:prstGeom prst="roundRect">
            <a:avLst/>
          </a:prstGeom>
          <a:solidFill>
            <a:srgbClr val="F0F7F3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98448"/>
            <a:ext cx="64008" cy="4251960"/>
          </a:xfrm>
          <a:prstGeom prst="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435607"/>
            <a:ext cx="326440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Impacto profesional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819655"/>
            <a:ext cx="3264408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76818D"/>
                </a:solidFill>
                <a:latin typeface="Aptos"/>
              </a:rPr>
              <a:t>Integra desarrollo Full Stack, gestión de datos, seguridad, automatización, pruebas e integración de servicios.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5806440"/>
            <a:ext cx="10104120" cy="457200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916168"/>
            <a:ext cx="9829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Aporte principal: disponer de información comercial centralizada para apoyar decisiones de la organización.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3. Descripción de Cotiza+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Flujo propuesto desde la llegada del PDF hasta su consulta en el panel web.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84708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384048" cy="384048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5681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32888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Detectar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81528"/>
            <a:ext cx="149047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Nueva cotización
subida a Google Drive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86584" y="3200400"/>
            <a:ext cx="310896" cy="0"/>
          </a:xfrm>
          <a:prstGeom prst="line">
            <a:avLst/>
          </a:prstGeom>
          <a:ln w="2540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70632" y="1691640"/>
            <a:ext cx="184708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1901952"/>
            <a:ext cx="384048" cy="384048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95681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532888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Extraer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5224" y="3081528"/>
            <a:ext cx="149047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Reglas de extracción
+ IA como respaldo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54296" y="3200400"/>
            <a:ext cx="310896" cy="0"/>
          </a:xfrm>
          <a:prstGeom prst="line">
            <a:avLst/>
          </a:prstGeom>
          <a:ln w="2540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38344" y="1691640"/>
            <a:ext cx="184708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93792" y="1901952"/>
            <a:ext cx="384048" cy="384048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195681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532888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Normalizar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3081528"/>
            <a:ext cx="149047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Validación, limpieza
y control de duplicados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22008" y="3200400"/>
            <a:ext cx="310896" cy="0"/>
          </a:xfrm>
          <a:prstGeom prst="line">
            <a:avLst/>
          </a:prstGeom>
          <a:ln w="2540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06055" y="1691640"/>
            <a:ext cx="184708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1504" y="1901952"/>
            <a:ext cx="384048" cy="384048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195681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2532888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Almacenar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648" y="3081528"/>
            <a:ext cx="149047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Persistencia en
PostgreSQL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9719" y="3200400"/>
            <a:ext cx="310896" cy="0"/>
          </a:xfrm>
          <a:prstGeom prst="line">
            <a:avLst/>
          </a:prstGeom>
          <a:ln w="2540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573768" y="1691640"/>
            <a:ext cx="1847088" cy="3246120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29216" y="1901952"/>
            <a:ext cx="384048" cy="384048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29216" y="1956816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532888"/>
            <a:ext cx="14813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Consultar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081528"/>
            <a:ext cx="1490472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API FastAPI +
panel web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5367528"/>
            <a:ext cx="10012680" cy="530352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53312" y="5504688"/>
            <a:ext cx="95829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 i="0">
                <a:solidFill>
                  <a:srgbClr val="FFFFFF"/>
                </a:solidFill>
                <a:latin typeface="Aptos"/>
              </a:rPr>
              <a:t>Valor esencial: convertir cotizaciones en datos consultables de forma automática, estructurada y segura.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4. Áreas de desempeño y competencias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Cotiza+ moviliza competencias centrales del perfil de egreso de Ingeniería en Informática.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64008" cy="1572768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54480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Desarrollo de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4818888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6818D"/>
                </a:solidFill>
                <a:latin typeface="Aptos"/>
              </a:rPr>
              <a:t>Construcción e integración de una solución Full Stack y servicios REST.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64008" cy="1572768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554480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Modelos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938528"/>
            <a:ext cx="4818888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6818D"/>
                </a:solidFill>
                <a:latin typeface="Aptos"/>
              </a:rPr>
              <a:t>Diseño relacional, integridad, normalización y persistencia.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107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410712"/>
            <a:ext cx="64008" cy="1572768"/>
          </a:xfrm>
          <a:prstGeom prst="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547872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Gestión de proyectos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931920"/>
            <a:ext cx="4818888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6818D"/>
                </a:solidFill>
                <a:latin typeface="Aptos"/>
              </a:rPr>
              <a:t>Planificación, asignación de tareas, seguimiento y control del alcance.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41071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410712"/>
            <a:ext cx="64008" cy="1572768"/>
          </a:xfrm>
          <a:prstGeom prst="rect">
            <a:avLst/>
          </a:prstGeom>
          <a:solidFill>
            <a:srgbClr val="726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547872"/>
            <a:ext cx="4818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Pruebas y calidad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3931920"/>
            <a:ext cx="4818888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6818D"/>
                </a:solidFill>
                <a:latin typeface="Aptos"/>
              </a:rPr>
              <a:t>Validación funcional, integración, criterios de aceptación y mejoras.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532120"/>
            <a:ext cx="10607040" cy="512064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5660136"/>
            <a:ext cx="10195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0B3156"/>
                </a:solidFill>
                <a:latin typeface="Aptos"/>
              </a:rPr>
              <a:t>Áreas involucradas: desarrollo de software · gestión de datos · gestión de proyectos · aseguramiento de calidad · integración de sistemas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5. Relación con intereses profesionales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El proyecto busca resolver un problema real y fortalecer un perfil orientado a productos tecnológicos.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4800600" cy="4343400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886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Aptos"/>
              </a:rPr>
              <a:t>Un proyecto real,
no solo académico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7947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F5AE26"/>
                </a:solidFill>
                <a:latin typeface="Aptos"/>
              </a:rPr>
              <a:t>• </a:t>
            </a:r>
            <a:r>
              <a:rPr sz="1250">
                <a:solidFill>
                  <a:srgbClr val="DCE6F0"/>
                </a:solidFill>
                <a:latin typeface="Aptos"/>
              </a:rPr>
              <a:t>Aplicar desarrollo Full Stack, arquitectura, automatización y bases de datos.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F5AE26"/>
                </a:solidFill>
                <a:latin typeface="Aptos"/>
              </a:rPr>
              <a:t>• </a:t>
            </a:r>
            <a:r>
              <a:rPr sz="1250">
                <a:solidFill>
                  <a:srgbClr val="DCE6F0"/>
                </a:solidFill>
                <a:latin typeface="Aptos"/>
              </a:rPr>
              <a:t>Trabajar con una necesidad concreta de una organización.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F5AE26"/>
                </a:solidFill>
                <a:latin typeface="Aptos"/>
              </a:rPr>
              <a:t>• </a:t>
            </a:r>
            <a:r>
              <a:rPr sz="1250">
                <a:solidFill>
                  <a:srgbClr val="DCE6F0"/>
                </a:solidFill>
                <a:latin typeface="Aptos"/>
              </a:rPr>
              <a:t>Fortalecer competencias técnicas, de análisis y gestión.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F5AE26"/>
                </a:solidFill>
                <a:latin typeface="Aptos"/>
              </a:rPr>
              <a:t>• </a:t>
            </a:r>
            <a:r>
              <a:rPr sz="1250">
                <a:solidFill>
                  <a:srgbClr val="DCE6F0"/>
                </a:solidFill>
                <a:latin typeface="Aptos"/>
              </a:rPr>
              <a:t>Explorar el potencial de reutilizar o licenciar la solución a otras empresas.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17320"/>
            <a:ext cx="5806440" cy="123444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0" y="1417320"/>
            <a:ext cx="64008" cy="1234440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9592" y="1554480"/>
            <a:ext cx="55504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Interés 1 · Construcción de productos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1938528"/>
            <a:ext cx="555040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76818D"/>
                </a:solidFill>
                <a:latin typeface="Aptos"/>
              </a:rPr>
              <a:t>Desarrollar soluciones completas que generen valor y no solo funcionalidades aisladas.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2880360"/>
            <a:ext cx="5806440" cy="1234440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0" y="2880360"/>
            <a:ext cx="64008" cy="1234440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3017520"/>
            <a:ext cx="55504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Interés 2 · Automatización e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3401568"/>
            <a:ext cx="555040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76818D"/>
                </a:solidFill>
                <a:latin typeface="Aptos"/>
              </a:rPr>
              <a:t>Aplicar automatización e inteligencia artificial cuando aporten eficiencia y confiabilidad.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4343400"/>
            <a:ext cx="5806440" cy="1234440"/>
          </a:xfrm>
          <a:prstGeom prst="roundRect">
            <a:avLst/>
          </a:prstGeom>
          <a:solidFill>
            <a:srgbClr val="F0F7F3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4343400"/>
            <a:ext cx="64008" cy="1234440"/>
          </a:xfrm>
          <a:prstGeom prst="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4480560"/>
            <a:ext cx="55504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Interés 3 · Calidad y seguridad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4864608"/>
            <a:ext cx="555040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i="0">
                <a:solidFill>
                  <a:srgbClr val="76818D"/>
                </a:solidFill>
                <a:latin typeface="Aptos"/>
              </a:rPr>
              <a:t>Diseñar soluciones mantenibles, protegidas y validadas mediante pruebas.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6. Objetivos del Proyecto 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Los objetivos guían el desarrollo y permiten verificar el cumplimiento al finalizar el semestre.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70432"/>
            <a:ext cx="1417320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OBJETIVO GENERAL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54480"/>
            <a:ext cx="11201400" cy="1078992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773936"/>
            <a:ext cx="10561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70" b="1" i="0">
                <a:solidFill>
                  <a:srgbClr val="FFFFFF"/>
                </a:solidFill>
                <a:latin typeface="Aptos"/>
              </a:rPr>
              <a:t>Desarrollar una solución de software que automatice la extracción, almacenamiento y análisis de información contenida en cotizaciones comerciales en formato PDF, facilitando su consulta mediante una aplicación web.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035808"/>
            <a:ext cx="24963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" y="3035808"/>
            <a:ext cx="64008" cy="10789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172968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Automatizar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557015"/>
            <a:ext cx="22402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6818D"/>
                </a:solidFill>
                <a:latin typeface="Aptos"/>
              </a:rPr>
              <a:t>Detectar y procesar cotizaciones nuevas desde Google Drive.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3035808"/>
            <a:ext cx="24963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46704" y="3035808"/>
            <a:ext cx="64008" cy="10789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3172968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Extraer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3557015"/>
            <a:ext cx="22402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6818D"/>
                </a:solidFill>
                <a:latin typeface="Aptos"/>
              </a:rPr>
              <a:t>Identificar cliente, número, fecha, montos e ítems.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3035808"/>
            <a:ext cx="24963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3035808"/>
            <a:ext cx="64008" cy="10789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172968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Estructurar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557015"/>
            <a:ext cx="22402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6818D"/>
                </a:solidFill>
                <a:latin typeface="Aptos"/>
              </a:rPr>
              <a:t>Normalizar y almacenar la información en PostgreSQL.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9408" y="3035808"/>
            <a:ext cx="24963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79408" y="3035808"/>
            <a:ext cx="64008" cy="10789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172968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Exponer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557015"/>
            <a:ext cx="22402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6818D"/>
                </a:solidFill>
                <a:latin typeface="Aptos"/>
              </a:rPr>
              <a:t>Construir una API REST con FastAPI.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4379976"/>
            <a:ext cx="24963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" y="4379976"/>
            <a:ext cx="64008" cy="1078992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517136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Visualizar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901184"/>
            <a:ext cx="22402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6818D"/>
                </a:solidFill>
                <a:latin typeface="Aptos"/>
              </a:rPr>
              <a:t>Desarrollar búsquedas, filtros y métricas en React.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6704" y="4379976"/>
            <a:ext cx="24963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46704" y="4379976"/>
            <a:ext cx="64008" cy="1078992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1296" y="4517136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Proteger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11296" y="4901184"/>
            <a:ext cx="22402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6818D"/>
                </a:solidFill>
                <a:latin typeface="Aptos"/>
              </a:rPr>
              <a:t>Implementar autenticación, autorización y control de acceso.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4379976"/>
            <a:ext cx="249631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3056" y="4379976"/>
            <a:ext cx="64008" cy="1078992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4517136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Validar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901184"/>
            <a:ext cx="2240280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76818D"/>
                </a:solidFill>
                <a:latin typeface="Aptos"/>
              </a:rPr>
              <a:t>Comprobar el funcionamiento mediante pruebas.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7. Arquitectura técnica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Stack actualizado: Python + FastAPI en backend y React + TypeScript en frontend.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920240"/>
            <a:ext cx="1664208" cy="2057400"/>
          </a:xfrm>
          <a:prstGeom prst="roundRect">
            <a:avLst/>
          </a:prstGeom>
          <a:solidFill>
            <a:srgbClr val="FFF6DB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240280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30" b="1" i="0">
                <a:solidFill>
                  <a:srgbClr val="0B3156"/>
                </a:solidFill>
                <a:latin typeface="Aptos"/>
              </a:rPr>
              <a:t>Google 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9443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76818D"/>
                </a:solidFill>
                <a:latin typeface="Aptos"/>
              </a:rPr>
              <a:t>Origen de PDFs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66544" y="2926080"/>
            <a:ext cx="219456" cy="0"/>
          </a:xfrm>
          <a:prstGeom prst="line">
            <a:avLst/>
          </a:prstGeom>
          <a:ln w="2286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1720" y="1920240"/>
            <a:ext cx="1664208" cy="2057400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240280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30" b="1" i="0">
                <a:solidFill>
                  <a:srgbClr val="0B3156"/>
                </a:solidFill>
                <a:latin typeface="Aptos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29443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76818D"/>
                </a:solidFill>
                <a:latin typeface="Aptos"/>
              </a:rPr>
              <a:t>Procesamiento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14215" y="2926080"/>
            <a:ext cx="219457" cy="0"/>
          </a:xfrm>
          <a:prstGeom prst="line">
            <a:avLst/>
          </a:prstGeom>
          <a:ln w="2286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79392" y="1920240"/>
            <a:ext cx="1664208" cy="2057400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1" y="2240280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30" b="1" i="0">
                <a:solidFill>
                  <a:srgbClr val="0B3156"/>
                </a:solidFill>
                <a:latin typeface="Apto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9443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76818D"/>
                </a:solidFill>
                <a:latin typeface="Aptos"/>
              </a:rPr>
              <a:t>Servicios REST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2926080"/>
            <a:ext cx="219456" cy="0"/>
          </a:xfrm>
          <a:prstGeom prst="line">
            <a:avLst/>
          </a:prstGeom>
          <a:ln w="2286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1920240"/>
            <a:ext cx="1664208" cy="2057400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8503" y="2240280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30" b="1" i="0">
                <a:solidFill>
                  <a:srgbClr val="0B3156"/>
                </a:solidFill>
                <a:latin typeface="Aptos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29443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76818D"/>
                </a:solidFill>
                <a:latin typeface="Aptos"/>
              </a:rPr>
              <a:t>Persistencia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09560" y="2926080"/>
            <a:ext cx="219456" cy="0"/>
          </a:xfrm>
          <a:prstGeom prst="line">
            <a:avLst/>
          </a:prstGeom>
          <a:ln w="2286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74736" y="1920240"/>
            <a:ext cx="16642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6175" y="2240280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30" b="1" i="0">
                <a:solidFill>
                  <a:srgbClr val="0B3156"/>
                </a:solidFill>
                <a:latin typeface="Aptos"/>
              </a:rPr>
              <a:t>React + 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9443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76818D"/>
                </a:solidFill>
                <a:latin typeface="Aptos"/>
              </a:rPr>
              <a:t>Aplicación web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57232" y="2926080"/>
            <a:ext cx="219456" cy="0"/>
          </a:xfrm>
          <a:prstGeom prst="line">
            <a:avLst/>
          </a:prstGeom>
          <a:ln w="22860">
            <a:solidFill>
              <a:srgbClr val="F5AE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22407" y="1920240"/>
            <a:ext cx="166420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13847" y="2240280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30" b="1" i="0">
                <a:solidFill>
                  <a:srgbClr val="0B3156"/>
                </a:solidFill>
                <a:latin typeface="Aptos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7" y="2944368"/>
            <a:ext cx="138988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76818D"/>
                </a:solidFill>
                <a:latin typeface="Aptos"/>
              </a:rPr>
              <a:t>Consulta y métricas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4434840"/>
            <a:ext cx="9692640" cy="640080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4626864"/>
            <a:ext cx="9189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30" b="1" i="0">
                <a:solidFill>
                  <a:srgbClr val="FFFFFF"/>
                </a:solidFill>
                <a:latin typeface="Aptos"/>
              </a:rPr>
              <a:t>Seguridad transversal: autenticación, autorización, validación de datos y protección de información.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394960"/>
            <a:ext cx="9509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76818D"/>
                </a:solidFill>
                <a:latin typeface="Aptos"/>
              </a:rPr>
              <a:t>Herramientas de apoyo: Git/GitHub · Swagger/OpenAPI · Postman · Pytest · Figma · Tailwind CSS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8. Metodología y distribución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Desarrollo iterativo e incremental, con construcción paralela de backend y frontend.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248716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64008" cy="1463040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54480"/>
            <a:ext cx="22311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1. 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223113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Requisitos, arquitectura,
modelo de datos y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417320"/>
            <a:ext cx="248716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417320"/>
            <a:ext cx="64008" cy="1463040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554480"/>
            <a:ext cx="22311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2. Construir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1938528"/>
            <a:ext cx="223113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Extracción, persistencia,
API y 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417320"/>
            <a:ext cx="248716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35624" y="1417320"/>
            <a:ext cx="64008" cy="1463040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554480"/>
            <a:ext cx="22311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3. Integrar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938528"/>
            <a:ext cx="223113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Autenticación,
servicios y panel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1976" y="1417320"/>
            <a:ext cx="2487168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51976" y="1417320"/>
            <a:ext cx="64008" cy="1463040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554480"/>
            <a:ext cx="223113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3156"/>
                </a:solidFill>
                <a:latin typeface="Aptos"/>
              </a:rPr>
              <a:t>4. Validar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1938528"/>
            <a:ext cx="2231136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Pruebas, correcciones,
despliegue y cierre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218688"/>
            <a:ext cx="1508760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36976"/>
            <a:ext cx="15087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RESPONSABILIDADES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602736"/>
            <a:ext cx="5349240" cy="20574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602736"/>
            <a:ext cx="64008" cy="2057400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739896"/>
            <a:ext cx="50932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Ignacio Gonzalez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4123944"/>
            <a:ext cx="5093207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6818D"/>
                </a:solidFill>
                <a:latin typeface="Aptos"/>
              </a:rPr>
              <a:t>Backend con Python/FastAPI · integración con Google Drive · procesamiento PDF · modelo de datos · API REST · soporte de integración y pruebas.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3602736"/>
            <a:ext cx="5349240" cy="2057400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3602736"/>
            <a:ext cx="64008" cy="2057400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739896"/>
            <a:ext cx="5093207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Claudio Cornejo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123944"/>
            <a:ext cx="5093207" cy="1444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76818D"/>
                </a:solidFill>
                <a:latin typeface="Aptos"/>
              </a:rPr>
              <a:t>Frontend con React/TypeScript · diseño de interfaz · consultas y filtros · dashboard y métricas · apoyo en autenticación, integración y pruebas.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9. Producto Mínimo Viable (PMV)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El PMV concentra el proyecto en el flujo mínimo que permite demostrar valor real.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530352" cy="530352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81328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1353312"/>
            <a:ext cx="10287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1472184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Ingreso automático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472184"/>
            <a:ext cx="7269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Detectar un PDF nuevo en Google Drive y descargarlo.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50591"/>
            <a:ext cx="530352" cy="530352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560320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2432303"/>
            <a:ext cx="10287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6192" y="2551175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Extracción inteligente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551175"/>
            <a:ext cx="7269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Obtener campos clave mediante reglas y usar IA solo como respaldo.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29584"/>
            <a:ext cx="530352" cy="530352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39312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511296"/>
            <a:ext cx="10287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363016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Datos confiables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630168"/>
            <a:ext cx="7269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Normalizar, validar y almacenar evitando registros duplicados.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08576"/>
            <a:ext cx="530352" cy="530352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718304"/>
            <a:ext cx="530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4590288"/>
            <a:ext cx="102870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47091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Consulta segura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709160"/>
            <a:ext cx="7269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Permitir a un usuario autenticado buscar cotizaciones y visualizar métricas.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98448" y="5779008"/>
            <a:ext cx="9875520" cy="42976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5888736"/>
            <a:ext cx="943660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30" b="1" i="0">
                <a:solidFill>
                  <a:srgbClr val="0B3156"/>
                </a:solidFill>
                <a:latin typeface="Aptos"/>
              </a:rPr>
              <a:t>El PMV permite validar primero la automatización, confiabilidad de los datos y utilidad de la consulta.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10. Épicas y criterios de aceptación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El alcance se organiza en dos épicas principales con resultados verificables.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544068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64008" cy="437083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90472"/>
            <a:ext cx="5184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156"/>
                </a:solidFill>
                <a:latin typeface="Aptos"/>
              </a:rPr>
              <a:t>Épica 001 · Ingesta y extracción automática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20240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76818D"/>
                </a:solidFill>
                <a:latin typeface="Aptos"/>
              </a:rPr>
              <a:t>“Como usuario administrador quiero que el sistema extraiga automáticamente los datos de las cotizaciones en PDF…”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70632"/>
            <a:ext cx="4709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5AE26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Detectar y procesar nuevas cotizaciones.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5AE26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Extraer correctamente número, cliente, fecha, monto e ítems.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5AE26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Priorizar reglas propias y usar IA solo cuando sea necesario.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F5AE26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Almacenar información sin generar duplicados.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53312"/>
            <a:ext cx="5440680" cy="4370832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353312"/>
            <a:ext cx="64008" cy="4370832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490472"/>
            <a:ext cx="5184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3156"/>
                </a:solidFill>
                <a:latin typeface="Aptos"/>
              </a:rPr>
              <a:t>Épica 002 · Consulta y visualización segura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920240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76818D"/>
                </a:solidFill>
                <a:latin typeface="Aptos"/>
              </a:rPr>
              <a:t>“Como usuario quiero consultar las cotizaciones y sus métricas desde un panel web protegido…”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770632"/>
            <a:ext cx="47091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3682A1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Requerir autenticación para acceder al panel y la API.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3682A1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Mostrar total de cotizaciones, clientes únicos y montos.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3682A1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Permitir filtros y búsquedas por cliente y año.</a:t>
            </a: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3682A1"/>
                </a:solidFill>
                <a:latin typeface="Aptos"/>
              </a:rPr>
              <a:t>• </a:t>
            </a:r>
            <a:r>
              <a:rPr sz="1150">
                <a:solidFill>
                  <a:srgbClr val="172737"/>
                </a:solidFill>
                <a:latin typeface="Aptos"/>
              </a:rPr>
              <a:t>Proteger la información y restringir accesos.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11. Factibilidad, facilitadores y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El alcance se mantiene controlado mediante un PMV y una planificación de 18 semanas.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33856"/>
            <a:ext cx="1572768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52144"/>
            <a:ext cx="157276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¿POR QUÉ ES FACTIBLE?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20" b="1">
                <a:solidFill>
                  <a:srgbClr val="F5AE26"/>
                </a:solidFill>
                <a:latin typeface="Aptos"/>
              </a:rPr>
              <a:t>• </a:t>
            </a:r>
            <a:r>
              <a:rPr sz="1220">
                <a:solidFill>
                  <a:srgbClr val="172737"/>
                </a:solidFill>
                <a:latin typeface="Aptos"/>
              </a:rPr>
              <a:t>El desarrollo se distribuye durante todo el semestre y termina en la semana 18.</a:t>
            </a:r>
          </a:p>
          <a:p>
            <a:pPr>
              <a:spcAft>
                <a:spcPts val="500"/>
              </a:spcAft>
            </a:pPr>
            <a:r>
              <a:rPr sz="1220" b="1">
                <a:solidFill>
                  <a:srgbClr val="F5AE26"/>
                </a:solidFill>
                <a:latin typeface="Aptos"/>
              </a:rPr>
              <a:t>• </a:t>
            </a:r>
            <a:r>
              <a:rPr sz="1220">
                <a:solidFill>
                  <a:srgbClr val="172737"/>
                </a:solidFill>
                <a:latin typeface="Aptos"/>
              </a:rPr>
              <a:t>El PMV limita el alcance a dos épicas y funcionalidades esenciales.</a:t>
            </a:r>
          </a:p>
          <a:p>
            <a:pPr>
              <a:spcAft>
                <a:spcPts val="500"/>
              </a:spcAft>
            </a:pPr>
            <a:r>
              <a:rPr sz="1220" b="1">
                <a:solidFill>
                  <a:srgbClr val="F5AE26"/>
                </a:solidFill>
                <a:latin typeface="Aptos"/>
              </a:rPr>
              <a:t>• </a:t>
            </a:r>
            <a:r>
              <a:rPr sz="1220">
                <a:solidFill>
                  <a:srgbClr val="172737"/>
                </a:solidFill>
                <a:latin typeface="Aptos"/>
              </a:rPr>
              <a:t>Se utilizan tecnologías conocidas, documentadas y disponibles para el equipo.</a:t>
            </a:r>
          </a:p>
          <a:p>
            <a:pPr>
              <a:spcAft>
                <a:spcPts val="500"/>
              </a:spcAft>
            </a:pPr>
            <a:r>
              <a:rPr sz="1220" b="1">
                <a:solidFill>
                  <a:srgbClr val="F5AE26"/>
                </a:solidFill>
                <a:latin typeface="Aptos"/>
              </a:rPr>
              <a:t>• </a:t>
            </a:r>
            <a:r>
              <a:rPr sz="1220">
                <a:solidFill>
                  <a:srgbClr val="172737"/>
                </a:solidFill>
                <a:latin typeface="Aptos"/>
              </a:rPr>
              <a:t>Backend y frontend pueden desarrollarse en paralelo entre ambos integrantes.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133856"/>
            <a:ext cx="1554480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1152144"/>
            <a:ext cx="15544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RIESGOS Y MITIGACIÓN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572768"/>
            <a:ext cx="5138928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572768"/>
            <a:ext cx="64008" cy="758952"/>
          </a:xfrm>
          <a:prstGeom prst="rect">
            <a:avLst/>
          </a:prstGeom>
          <a:solidFill>
            <a:srgbClr val="B0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709928"/>
            <a:ext cx="48828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Variación de PDFs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093976"/>
            <a:ext cx="4882896" cy="146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Reglas de extracción + validaciones + IA de respaldo.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2514600"/>
            <a:ext cx="5138928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2514600"/>
            <a:ext cx="64008" cy="75895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651760"/>
            <a:ext cx="48828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Cambios de alcance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035808"/>
            <a:ext cx="4882896" cy="146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Priorizar PMV y gestionar nuevos requerimientos.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456432"/>
            <a:ext cx="5138928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3456432"/>
            <a:ext cx="64008" cy="75895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593592"/>
            <a:ext cx="48828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Integraciones externas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977640"/>
            <a:ext cx="4882896" cy="146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Probar Google Drive y autenticación de forma progresiva.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398264"/>
            <a:ext cx="5138928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4398264"/>
            <a:ext cx="64008" cy="75895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4535424"/>
            <a:ext cx="488289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B3156"/>
                </a:solidFill>
                <a:latin typeface="Aptos"/>
              </a:rPr>
              <a:t>Tiempo limitado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4919472"/>
            <a:ext cx="4882896" cy="146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Reservar semanas finales para pruebas, correcciones y cierre.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66360"/>
            <a:ext cx="10817352" cy="603504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367528"/>
            <a:ext cx="10241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Aptos"/>
              </a:rPr>
              <a:t>Criterio de control: las mejoras no esenciales quedan fuera del PMV si comprometen la entrega final.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12. Evidencias esperadas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Las evidencias demostrarán tanto el avance como el resultado final del Proyecto APT.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401568" cy="1627632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581912"/>
            <a:ext cx="713232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600200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02536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3156"/>
                </a:solidFill>
                <a:latin typeface="Aptos"/>
              </a:rPr>
              <a:t>Requisitos y 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386584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Documento de requisitos, arquitectura y modelo inicial.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17320"/>
            <a:ext cx="3401568" cy="1627632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7" y="1581912"/>
            <a:ext cx="713232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7" y="1600200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AVANCE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7" y="2002536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3156"/>
                </a:solidFill>
                <a:latin typeface="Aptos"/>
              </a:rPr>
              <a:t>Prototipo de extracción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7" y="2386584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Procesamiento de PDFs y obtención de campos clave.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417320"/>
            <a:ext cx="3401568" cy="1627632"/>
          </a:xfrm>
          <a:prstGeom prst="roundRect">
            <a:avLst/>
          </a:prstGeom>
          <a:solidFill>
            <a:srgbClr val="ECF4F9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38744" y="1581912"/>
            <a:ext cx="713232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600200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AVANCE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002536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3156"/>
                </a:solidFill>
                <a:latin typeface="Aptos"/>
              </a:rPr>
              <a:t>Modelo de datos +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386584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Base de datos relacional y endpoints documentados.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474720"/>
            <a:ext cx="34015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" y="3639312"/>
            <a:ext cx="713232" cy="292608"/>
          </a:xfrm>
          <a:prstGeom prst="roundRect">
            <a:avLst/>
          </a:prstGeom>
          <a:solidFill>
            <a:srgbClr val="E9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657600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4059935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3156"/>
                </a:solidFill>
                <a:latin typeface="Aptos"/>
              </a:rPr>
              <a:t>Aplicación web Cotiza+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4443983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Dashboard funcional con autenticación, filtros y métricas.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8536" y="3474720"/>
            <a:ext cx="34015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53127" y="3639312"/>
            <a:ext cx="713232" cy="292608"/>
          </a:xfrm>
          <a:prstGeom prst="roundRect">
            <a:avLst/>
          </a:prstGeom>
          <a:solidFill>
            <a:srgbClr val="E9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7" y="3657600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FINAL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7" y="4059935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3156"/>
                </a:solidFill>
                <a:latin typeface="Aptos"/>
              </a:rPr>
              <a:t>Pruebas y validación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7" y="4443983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Casos de prueba, criterios de aceptación y resultados.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74152" y="3474720"/>
            <a:ext cx="340156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38744" y="3639312"/>
            <a:ext cx="713232" cy="292608"/>
          </a:xfrm>
          <a:prstGeom prst="roundRect">
            <a:avLst/>
          </a:prstGeom>
          <a:solidFill>
            <a:srgbClr val="E9F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3657600"/>
            <a:ext cx="713232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FINAL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4059935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B3156"/>
                </a:solidFill>
                <a:latin typeface="Aptos"/>
              </a:rPr>
              <a:t>Repositorio y documentación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4443983"/>
            <a:ext cx="2926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9" b="0" i="0">
                <a:solidFill>
                  <a:srgbClr val="76818D"/>
                </a:solidFill>
                <a:latin typeface="Aptos"/>
              </a:rPr>
              <a:t>Código, documentación técnica, evidencias y manual básico.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13. Plan de trabajo · visión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Las actividades se superponen para aprovechar el trabajo paralelo y completar el proyecto en 18 semanas.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335024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572768"/>
            <a:ext cx="1417320" cy="292608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91056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FASE 1 · S1–S4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075688"/>
            <a:ext cx="32186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Definición y diseño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70048"/>
            <a:ext cx="30632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20" b="1">
                <a:solidFill>
                  <a:srgbClr val="F5AE26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Requerimientos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F5AE26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Arquitectura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F5AE26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Modelo de datos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F5AE26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Inicio Google Drive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1" y="1335024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1572768"/>
            <a:ext cx="1417320" cy="292608"/>
          </a:xfrm>
          <a:prstGeom prst="roundRect">
            <a:avLst/>
          </a:prstGeom>
          <a:solidFill>
            <a:srgbClr val="EC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91056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FASE 2 · S5–S15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75688"/>
            <a:ext cx="32186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Construcción e integración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1" y="2670048"/>
            <a:ext cx="30632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20" b="1">
                <a:solidFill>
                  <a:srgbClr val="3682A1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Extracción PDF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682A1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Normalización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682A1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API FastAPI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682A1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Frontend React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682A1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Autenticación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682A1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Dashboard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682A1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Integración y pruebas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1335024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85632" y="1572768"/>
            <a:ext cx="1417320" cy="292608"/>
          </a:xfrm>
          <a:prstGeom prst="roundRect">
            <a:avLst/>
          </a:prstGeom>
          <a:solidFill>
            <a:srgbClr val="EF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591056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i="0">
                <a:solidFill>
                  <a:srgbClr val="0B3156"/>
                </a:solidFill>
                <a:latin typeface="Aptos"/>
              </a:rPr>
              <a:t>FASE 3 · S16–S18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075688"/>
            <a:ext cx="321868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3156"/>
                </a:solidFill>
                <a:latin typeface="Aptos"/>
              </a:rPr>
              <a:t>Estabilización y cierre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2670048"/>
            <a:ext cx="30632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20" b="1">
                <a:solidFill>
                  <a:srgbClr val="35815E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Correcciones finales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5815E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Documentación y evidencias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5815E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Despliegue</a:t>
            </a:r>
          </a:p>
          <a:p>
            <a:pPr>
              <a:spcAft>
                <a:spcPts val="500"/>
              </a:spcAft>
            </a:pPr>
            <a:r>
              <a:rPr sz="1120" b="1">
                <a:solidFill>
                  <a:srgbClr val="35815E"/>
                </a:solidFill>
                <a:latin typeface="Aptos"/>
              </a:rPr>
              <a:t>• </a:t>
            </a:r>
            <a:r>
              <a:rPr sz="1120">
                <a:solidFill>
                  <a:srgbClr val="172737"/>
                </a:solidFill>
                <a:latin typeface="Aptos"/>
              </a:rPr>
              <a:t>Demo y presentación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053328"/>
            <a:ext cx="10835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76818D"/>
                </a:solidFill>
                <a:latin typeface="Aptos"/>
              </a:rPr>
              <a:t>La duración de cada tarea no se suma de forma lineal: backend y frontend avanzan en paralelo según responsable.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14. Carta Gantt · 18 semanas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Fase 1: S1–S4 · Fase 2: S5–S15 · Fase 3: S16–S18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941832"/>
            <a:ext cx="1995424" cy="274320"/>
          </a:xfrm>
          <a:prstGeom prst="roundRect">
            <a:avLst/>
          </a:prstGeom>
          <a:solidFill>
            <a:srgbClr val="FFF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66055" y="941832"/>
            <a:ext cx="5487416" cy="274320"/>
          </a:xfrm>
          <a:prstGeom prst="roundRect">
            <a:avLst/>
          </a:prstGeom>
          <a:solidFill>
            <a:srgbClr val="EC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53472" y="941832"/>
            <a:ext cx="1496568" cy="274320"/>
          </a:xfrm>
          <a:prstGeom prst="roundRect">
            <a:avLst/>
          </a:prstGeom>
          <a:solidFill>
            <a:srgbClr val="EF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978408"/>
            <a:ext cx="19954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 i="0">
                <a:solidFill>
                  <a:srgbClr val="0B3156"/>
                </a:solidFill>
                <a:latin typeface="Aptos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6055" y="978408"/>
            <a:ext cx="5487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 i="0">
                <a:solidFill>
                  <a:srgbClr val="0B3156"/>
                </a:solidFill>
                <a:latin typeface="Aptos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3472" y="978408"/>
            <a:ext cx="1496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 i="0">
                <a:solidFill>
                  <a:srgbClr val="0B3156"/>
                </a:solidFill>
                <a:latin typeface="Aptos"/>
              </a:rPr>
              <a:t>FASE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9488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9488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68343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8343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199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7199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6055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6055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4911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64911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3767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3767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2623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2623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1479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1479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0336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59192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59192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8048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8048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56904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56904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55760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5760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54616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54616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53472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53472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52328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52328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51184" y="1261872"/>
            <a:ext cx="49885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51184" y="1298448"/>
            <a:ext cx="49885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40" b="1" i="0">
                <a:solidFill>
                  <a:srgbClr val="0B3156"/>
                </a:solidFill>
                <a:latin typeface="Aptos"/>
              </a:rPr>
              <a:t>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" y="1417320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" y="1476756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Requerimientos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70632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69488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68343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67199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66055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64911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63767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62623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61479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60336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59192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58048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56904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55760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4616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53472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752328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251184" y="141732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798063" y="1476756"/>
            <a:ext cx="942848" cy="160020"/>
          </a:xfrm>
          <a:prstGeom prst="round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" y="1755648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Arquitectura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70632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69488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68343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67199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766055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264911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763767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62623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61479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60336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59192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58048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756904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55760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754616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253472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752328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251184" y="169621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3296919" y="1755648"/>
            <a:ext cx="942848" cy="160020"/>
          </a:xfrm>
          <a:prstGeom prst="round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0624" y="1975104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66344" y="2034540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Modelo de datos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770632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269488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768343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267199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766055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64911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763767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62623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61479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260336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759192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258048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756904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55760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754616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253472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752328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251184" y="197510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3795775" y="2034540"/>
            <a:ext cx="942848" cy="160020"/>
          </a:xfrm>
          <a:prstGeom prst="round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6344" y="2313432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Google Drive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70632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269488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768343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267199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766055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264911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763767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262623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61479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260336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759192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258048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756904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255760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754616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253472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752328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251184" y="225399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4294632" y="2313432"/>
            <a:ext cx="942848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0624" y="2532888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66344" y="2592324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Extracción PDF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70632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269488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768343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267199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766055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264911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763767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262623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761479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260336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759192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258048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56904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55760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754616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253472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752328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1251184" y="253288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4793488" y="2592324"/>
            <a:ext cx="1441704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66344" y="2871216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Normalización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770632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269488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768343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267199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766055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5264911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763767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262623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61479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260336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759192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258048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756904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255760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754616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253472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0752328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251184" y="281178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5292344" y="2871216"/>
            <a:ext cx="942848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20624" y="3090672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66344" y="3150108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API FastAPI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770632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269488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768343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267199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766055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264911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763767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262623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761479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260336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759192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258048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756904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255760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754616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253472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752328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1251184" y="309067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5292344" y="3150108"/>
            <a:ext cx="1441704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66344" y="3428999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Frontend base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770632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3269488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3768343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267199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766055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64911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763767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262623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761479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260336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759192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8258048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756904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255760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754616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0253472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0752328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11251184" y="3369563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4793488" y="3428999"/>
            <a:ext cx="942848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20624" y="3648456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66344" y="3707892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Autenticación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2770632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269488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3768343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267199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4766055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264911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763767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262623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761479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0336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759192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258048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756904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255760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754616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253472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0752328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1251184" y="364845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6290056" y="3707892"/>
            <a:ext cx="1441704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66344" y="3986784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Consulta cotizaciones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770632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269488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3768343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4267199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766055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264911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5763767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62623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761479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260336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759192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8258048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8756904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255760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754616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253472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752328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251184" y="3927348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6290056" y="3986784"/>
            <a:ext cx="1940560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420624" y="4206240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466344" y="4265676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Dashboard y métricas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2770632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3269488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3768343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4267199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4766055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5264911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763767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6262623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6761479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260336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759192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258048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756904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255760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54616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253472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0752328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251184" y="420624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7287768" y="4265676"/>
            <a:ext cx="1441704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466344" y="4544568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Integración completa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770632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3269488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3768343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4267199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4766055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264911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5763767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262623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761479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260336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759192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8258048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8756904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255760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9754616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253472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752328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1251184" y="4485132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ounded Rectangle 294"/>
          <p:cNvSpPr/>
          <p:nvPr/>
        </p:nvSpPr>
        <p:spPr>
          <a:xfrm>
            <a:off x="8285479" y="4544568"/>
            <a:ext cx="1441704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420624" y="4764024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466344" y="4823460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Pruebas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770632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269488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768343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4267199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4766055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5264911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5763767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6262623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6761479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7260336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7759192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8258048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8756904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9255760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9754616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253472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752328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1251184" y="4764024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ounded Rectangle 315"/>
          <p:cNvSpPr/>
          <p:nvPr/>
        </p:nvSpPr>
        <p:spPr>
          <a:xfrm>
            <a:off x="9283191" y="4823460"/>
            <a:ext cx="942848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466344" y="5102352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Correcciones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2770632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3269488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3768343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4267199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4766055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5264911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5763767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6262623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6761479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260336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759192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8258048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8756904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255760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9754616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53472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752328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1251184" y="5042916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ounded Rectangle 335"/>
          <p:cNvSpPr/>
          <p:nvPr/>
        </p:nvSpPr>
        <p:spPr>
          <a:xfrm>
            <a:off x="9782047" y="5102352"/>
            <a:ext cx="942848" cy="160020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20624" y="5321807"/>
            <a:ext cx="11311128" cy="278892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466344" y="5381244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Documentación/evidencias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2770632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3269488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3768343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4267199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4766055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5264911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5763767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6262623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6761479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7260336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7759192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8258048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8756904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9255760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9754616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253472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752328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1251184" y="5321807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ounded Rectangle 356"/>
          <p:cNvSpPr/>
          <p:nvPr/>
        </p:nvSpPr>
        <p:spPr>
          <a:xfrm>
            <a:off x="10280903" y="5381244"/>
            <a:ext cx="942848" cy="160020"/>
          </a:xfrm>
          <a:prstGeom prst="round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466344" y="5660136"/>
            <a:ext cx="2240279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 i="0">
                <a:solidFill>
                  <a:srgbClr val="0B3156"/>
                </a:solidFill>
                <a:latin typeface="Aptos"/>
              </a:rPr>
              <a:t>Despliegue y cierre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2770632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269488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768343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4267199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4766055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264911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5763767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6262623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6761479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7260336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7759192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8258048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8756904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9255760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754616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253472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752328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1251184" y="5600700"/>
            <a:ext cx="498856" cy="278892"/>
          </a:xfrm>
          <a:prstGeom prst="rect">
            <a:avLst/>
          </a:prstGeom>
          <a:noFill/>
          <a:ln w="4445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ounded Rectangle 376"/>
          <p:cNvSpPr/>
          <p:nvPr/>
        </p:nvSpPr>
        <p:spPr>
          <a:xfrm>
            <a:off x="10779759" y="5660136"/>
            <a:ext cx="942848" cy="160020"/>
          </a:xfrm>
          <a:prstGeom prst="round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5422392" y="612648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0" i="0">
                <a:solidFill>
                  <a:srgbClr val="76818D"/>
                </a:solidFill>
                <a:latin typeface="Aptos"/>
              </a:rPr>
              <a:t>Semanas académicas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15. Hitos esperados por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Cada fase termina con un resultado verificable antes de avanzar a la siguiente.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193852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" y="1810512"/>
            <a:ext cx="896112" cy="420624"/>
          </a:xfrm>
          <a:prstGeom prst="round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892807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587752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3156"/>
                </a:solidFill>
                <a:latin typeface="Aptos"/>
              </a:rPr>
              <a:t>Diseño definido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15727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40" b="0" i="0">
                <a:solidFill>
                  <a:srgbClr val="76818D"/>
                </a:solidFill>
                <a:latin typeface="Aptos"/>
              </a:rPr>
              <a:t>Requisitos, arquitectura, modelo de datos y estrategia de integración establecidos.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572768"/>
            <a:ext cx="193852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79" y="1810512"/>
            <a:ext cx="896112" cy="420624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892807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2587752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3156"/>
                </a:solidFill>
                <a:latin typeface="Aptos"/>
              </a:rPr>
              <a:t>Backend base operativo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310128"/>
            <a:ext cx="15727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40" b="0" i="0">
                <a:solidFill>
                  <a:srgbClr val="76818D"/>
                </a:solidFill>
                <a:latin typeface="Aptos"/>
              </a:rPr>
              <a:t>Google Drive, extracción, normalización y API FastAPI disponibles para integración.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1572768"/>
            <a:ext cx="193852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50992" y="1810512"/>
            <a:ext cx="896112" cy="420624"/>
          </a:xfrm>
          <a:prstGeom prst="round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50992" y="1892807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587752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3156"/>
                </a:solidFill>
                <a:latin typeface="Aptos"/>
              </a:rPr>
              <a:t>Producto funcional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3310128"/>
            <a:ext cx="15727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40" b="0" i="0">
                <a:solidFill>
                  <a:srgbClr val="76818D"/>
                </a:solidFill>
                <a:latin typeface="Aptos"/>
              </a:rPr>
              <a:t>Consulta de cotizaciones, autenticación y dashboard conectados al backend.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97496" y="1572768"/>
            <a:ext cx="193852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18704" y="1810512"/>
            <a:ext cx="896112" cy="420624"/>
          </a:xfrm>
          <a:prstGeom prst="round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18704" y="1892807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2587752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3156"/>
                </a:solidFill>
                <a:latin typeface="Aptos"/>
              </a:rPr>
              <a:t>PMV validado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3310128"/>
            <a:ext cx="15727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40" b="0" i="0">
                <a:solidFill>
                  <a:srgbClr val="76818D"/>
                </a:solidFill>
                <a:latin typeface="Aptos"/>
              </a:rPr>
              <a:t>Flujo completo integrado y sometido a pruebas funcionales y de integración.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5208" y="1572768"/>
            <a:ext cx="193852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86416" y="1810512"/>
            <a:ext cx="896112" cy="420624"/>
          </a:xfrm>
          <a:prstGeom prst="roundRect">
            <a:avLst/>
          </a:prstGeom>
          <a:solidFill>
            <a:srgbClr val="358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86416" y="1892807"/>
            <a:ext cx="8961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587752"/>
            <a:ext cx="16093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0B3156"/>
                </a:solidFill>
                <a:latin typeface="Aptos"/>
              </a:rPr>
              <a:t>Entrega final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3310128"/>
            <a:ext cx="157276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40" b="0" i="0">
                <a:solidFill>
                  <a:srgbClr val="76818D"/>
                </a:solidFill>
                <a:latin typeface="Aptos"/>
              </a:rPr>
              <a:t>Sistema estabilizado, documentado, desplegado y preparado para demostración.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5413248"/>
            <a:ext cx="10195560" cy="530352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559552"/>
            <a:ext cx="9738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FFFFFF"/>
                </a:solidFill>
                <a:latin typeface="Aptos"/>
              </a:rPr>
              <a:t>Resultado esperado: un PMV funcional, verificable y demostrable dentro del periodo académico.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46888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0B3156"/>
                </a:solidFill>
                <a:latin typeface="Aptos"/>
              </a:rPr>
              <a:t>16.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94944"/>
            <a:ext cx="10149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76818D"/>
                </a:solidFill>
                <a:latin typeface="Aptos"/>
              </a:rPr>
              <a:t>Cotiza+ transforma información dispersa en un activo útil para la organización.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88" y="182880"/>
            <a:ext cx="1078992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510528"/>
            <a:ext cx="3657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76818D"/>
                </a:solidFill>
                <a:latin typeface="Aptos"/>
              </a:rPr>
              <a:t>CAPSTONE · Proyecto APT ·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92240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30" b="0" i="0">
                <a:solidFill>
                  <a:srgbClr val="76818D"/>
                </a:solidFill>
                <a:latin typeface="Aptos"/>
              </a:rPr>
              <a:t>Cotiza+  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808208" cy="1325880"/>
          </a:xfrm>
          <a:prstGeom prst="roundRect">
            <a:avLst/>
          </a:prstGeom>
          <a:solidFill>
            <a:srgbClr val="0B3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46504"/>
            <a:ext cx="1007668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Cotiza+ automatiza la captura de datos desde cotizaciones PDF, los estructura y los expone de manera segura para facilitar búsquedas, métricas y toma de decisiones.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291840"/>
            <a:ext cx="24231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3291840"/>
            <a:ext cx="64008" cy="1389888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429000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 i="0">
                <a:solidFill>
                  <a:srgbClr val="0B3156"/>
                </a:solidFill>
                <a:latin typeface="Aptos"/>
              </a:rPr>
              <a:t>Automatización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813048"/>
            <a:ext cx="216712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Menos revisión manual.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291840"/>
            <a:ext cx="24231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3291840"/>
            <a:ext cx="64008" cy="1389888"/>
          </a:xfrm>
          <a:prstGeom prst="rect">
            <a:avLst/>
          </a:prstGeom>
          <a:solidFill>
            <a:srgbClr val="F5A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3429000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 i="0">
                <a:solidFill>
                  <a:srgbClr val="0B3156"/>
                </a:solidFill>
                <a:latin typeface="Aptos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813048"/>
            <a:ext cx="216712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Información estructurada y centralizada.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291840"/>
            <a:ext cx="24231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291840"/>
            <a:ext cx="64008" cy="1389888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 i="0">
                <a:solidFill>
                  <a:srgbClr val="0B3156"/>
                </a:solidFill>
                <a:latin typeface="Aptos"/>
              </a:rPr>
              <a:t>Tecnología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813048"/>
            <a:ext cx="216712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Python + FastAPI + PostgreSQL + React.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3291840"/>
            <a:ext cx="242316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7696" y="3291840"/>
            <a:ext cx="64008" cy="1389888"/>
          </a:xfrm>
          <a:prstGeom prst="rect">
            <a:avLst/>
          </a:prstGeom>
          <a:solidFill>
            <a:srgbClr val="368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3429000"/>
            <a:ext cx="216712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 i="0">
                <a:solidFill>
                  <a:srgbClr val="0B3156"/>
                </a:solidFill>
                <a:latin typeface="Aptos"/>
              </a:rPr>
              <a:t>Calidad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813048"/>
            <a:ext cx="216712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76818D"/>
                </a:solidFill>
                <a:latin typeface="Aptos"/>
              </a:rPr>
              <a:t>Pruebas, seguridad y evidencias verificables.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525780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0B3156"/>
                </a:solidFill>
                <a:latin typeface="Aptos"/>
              </a:rPr>
              <a:t>¿Preguntas?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5843016"/>
            <a:ext cx="41879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76818D"/>
                </a:solidFill>
                <a:latin typeface="Aptos"/>
              </a:rPr>
              <a:t>Ignacio Gonzalez · Claudio Cornejo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